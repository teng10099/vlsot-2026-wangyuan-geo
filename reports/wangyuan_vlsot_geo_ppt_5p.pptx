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SR@0.5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Sheet1!$A$2:$A$6</c:f>
              <c:strCache>
                <c:ptCount val="5"/>
                <c:pt idx="0">
                  <c:v>v1</c:v>
                </c:pt>
                <c:pt idx="1">
                  <c:v>v2</c:v>
                </c:pt>
                <c:pt idx="2">
                  <c:v>v9</c:v>
                </c:pt>
                <c:pt idx="3">
                  <c:v>v11c</c:v>
                </c:pt>
                <c:pt idx="4">
                  <c:v>v12f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18.0</c:v>
                </c:pt>
                <c:pt idx="1">
                  <c:v>15.0</c:v>
                </c:pt>
                <c:pt idx="2">
                  <c:v>52.0</c:v>
                </c:pt>
                <c:pt idx="3">
                  <c:v>52.0</c:v>
                </c:pt>
                <c:pt idx="4">
                  <c:v>61.67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SR@0.7</c:v>
                </c:pt>
              </c:strCache>
            </c:strRef>
          </c:tx>
          <c:spPr>
            <a:solidFill>
              <a:srgbClr val="1365A6"/>
            </a:solidFill>
          </c:spPr>
          <c:cat>
            <c:strRef>
              <c:f>Sheet1!$A$2:$A$6</c:f>
              <c:strCache>
                <c:ptCount val="5"/>
                <c:pt idx="0">
                  <c:v>v1</c:v>
                </c:pt>
                <c:pt idx="1">
                  <c:v>v2</c:v>
                </c:pt>
                <c:pt idx="2">
                  <c:v>v9</c:v>
                </c:pt>
                <c:pt idx="3">
                  <c:v>v11c</c:v>
                </c:pt>
                <c:pt idx="4">
                  <c:v>v12f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12.0</c:v>
                </c:pt>
                <c:pt idx="1">
                  <c:v>11.67</c:v>
                </c:pt>
                <c:pt idx="2">
                  <c:v>26.67</c:v>
                </c:pt>
                <c:pt idx="3">
                  <c:v>26.67</c:v>
                </c:pt>
                <c:pt idx="4">
                  <c:v>38.33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AOR</c:v>
                </c:pt>
              </c:strCache>
            </c:strRef>
          </c:tx>
          <c:spPr>
            <a:solidFill>
              <a:srgbClr val="9FB3C8"/>
            </a:solidFill>
          </c:spPr>
          <c:cat>
            <c:strRef>
              <c:f>Sheet1!$A$2:$A$6</c:f>
              <c:strCache>
                <c:ptCount val="5"/>
                <c:pt idx="0">
                  <c:v>v1</c:v>
                </c:pt>
                <c:pt idx="1">
                  <c:v>v2</c:v>
                </c:pt>
                <c:pt idx="2">
                  <c:v>v9</c:v>
                </c:pt>
                <c:pt idx="3">
                  <c:v>v11c</c:v>
                </c:pt>
                <c:pt idx="4">
                  <c:v>v12f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20.26</c:v>
                </c:pt>
                <c:pt idx="1">
                  <c:v>18.03</c:v>
                </c:pt>
                <c:pt idx="2">
                  <c:v>47.94</c:v>
                </c:pt>
                <c:pt idx="3">
                  <c:v>49.45</c:v>
                </c:pt>
                <c:pt idx="4">
                  <c:v>57.84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5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任务：输入 30 帧单目图像、英文目标描述与相机标定，逐帧输出目标的 l w h x y z（virtuallidar 坐标系）。数据：TRAIN 227 段 / TEST 10 段，每段 30 帧。代码 https://github.com/Teng10099/VLSOT-2026-Wangyuan-Geo；权重 https://pan.baidu.com/s/1-56d3pIsJE30FOMGDlNdXw?pwd=pgu8（提取码 pgu8）。官方数据包不含标定，我们使用源数据集 V2X-Seq-SPD 路侧端公开的标定文件，只读内参与外参，不读其中任何标注。平台成绩取自方法页 http://vlp.chd.edu.cn/tasks/method/301 的 2026-10-24 16:30 提交；排名取自 2026-10-25 抓取的排行榜，按 SR@0.5 排序第 3（18 个方法中 14 个有成绩）；ACE 在 SR@0.5 大于 0 的 10 个方法中最低。交叉验证为 227 段 TRAIN 按目标 (sequence, track) 分组的 5 折，指标与平台一致（真实 3D IoU、中心欧氏误差）。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文本解析用正则抽取描述中的数值和属性；名次、区域、最近车方位的定义按服务器上数据集生成脚本（01Re/02Re/03Re4color、gpt3.py）复刻。② YOLO11x 为 Ultralytics 发布的 COCO 预训练权重，未微调；颜色概率来自数据集作者打颜色标签所用的 EFN 分类器。③ 打分器是 softmax 排序的线性模型，训练样本为 TRAIN 片段中 GT 对应的检测框。④ Viterbi 的转移代价为 2D IoU 与航向一致性。⑤⑥ 见下一页。源码：vlsot_geo/pipeline3.py、boxfit.py、geo_common.py。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数字出处：平台方法页 301（ACE 2.5346 → 0.2259）；交叉验证 scripts/run_ablation.sh（v9 77.78、v11c 81.70）；截断片段 ana_trunc_cv.py（19 个近处截断片段，射线法 9.6%，boxfit 61.8%）；ana_match.py（3405 个抽样帧中 450 帧中心匹配与投影矩形匹配不一致）。口径推断：v9 与 v11c 只在 001483 一段不同，两者预测中心相距 5.41 m；若平台把 l w h x y z 当角点，伪中心位移只有 2.70 m，ACE 最多变化 0.27，实际变化 0.369。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左表每行在上一行基础上增加一项改动。第 2、3 行改目标选择（属性定义与颜色），第 4 行修正训练标签里 GT 与检测框的匹配，第 5~9 行改三维定位。“误差&lt;0.1m”是中心误差小于 0.1 m 的帧比例，对应平台 PR@1.0 列。boxfit 边距从 4 px 改为 10 px 的提升来自 YOLO 截断框常停在离边界 5~10 px 处。右图来自平台方法页：v1/v2 为早期版本，v9 为 11:07 提交，v11c 为 14:48，v12f 为 16:30。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图为测试集片段的检查图（只用测试图像、文本和我们的预测，不含任何测试标签）。误差上限由 ana_jitter.py 统计（TRAIN 中有三处距离且与 GT 相差 0.3 m 以内的片段）：停车目标看 GT 中心相对片段中位数的偏差；尺寸上限为预测中心等于 GT、尺寸用文本值时的 IoU 分布。平台不提供逐段成绩，因此没有针对单个测试片段调参。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65836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25"/>
              </a:spcAft>
            </a:pPr>
            <a:r>
              <a:rPr sz="15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长安大学第二届人工智能创新大赛 · 专项命题挑战赛 赛道 A（VLSOT）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64008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4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文本约束的几何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4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三维视觉语言跟踪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64008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77"/>
              </a:spcAft>
            </a:pPr>
            <a:r>
              <a:rPr sz="16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Tenn-VLSOT-Geo：把描述里的距离、尺寸和航向代入相机几何，</a:t>
            </a:r>
          </a:p>
          <a:p>
            <a:pPr algn="l">
              <a:lnSpc>
                <a:spcPct val="112000"/>
              </a:lnSpc>
              <a:spcAft>
                <a:spcPts val="577"/>
              </a:spcAft>
            </a:pPr>
            <a:r>
              <a:rPr sz="16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用截断感知的 3D 框投影拟合给出每帧中心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0332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767328"/>
            <a:ext cx="187451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437"/>
              </a:spcAft>
            </a:pPr>
            <a:r>
              <a:rPr sz="12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平台测试 SR@0.5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69080"/>
            <a:ext cx="1874519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979"/>
              </a:spcAft>
            </a:pPr>
            <a:r>
              <a:rPr sz="2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61.67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63440"/>
            <a:ext cx="187451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排行榜第 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1488" y="370332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871216" y="3767328"/>
            <a:ext cx="187451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437"/>
              </a:spcAft>
            </a:pPr>
            <a:r>
              <a:rPr sz="12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平台测试 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216" y="4069080"/>
            <a:ext cx="1874519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979"/>
              </a:spcAft>
            </a:pPr>
            <a:r>
              <a:rPr sz="2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0.226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6" y="4663440"/>
            <a:ext cx="187451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非零成绩方法中最低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370332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E9F1F7"/>
          </a:solidFill>
          <a:ln w="1587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84064" y="3767328"/>
            <a:ext cx="187451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437"/>
              </a:spcAft>
            </a:pPr>
            <a:r>
              <a:rPr sz="12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5 折交叉验证 SR@0.5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4069080"/>
            <a:ext cx="1874519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979"/>
              </a:spcAft>
            </a:pPr>
            <a:r>
              <a:rPr sz="28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88.41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4663440"/>
            <a:ext cx="187451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227 段训练片段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40680"/>
            <a:ext cx="676656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489"/>
              </a:spcAft>
            </a:pPr>
            <a:r>
              <a:rPr sz="14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望远队</a:t>
            </a:r>
            <a:r>
              <a:rPr sz="1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　数据科学与人工智能研究院　指导老师：孙士杰</a:t>
            </a:r>
          </a:p>
          <a:p>
            <a:pPr algn="l">
              <a:lnSpc>
                <a:spcPct val="112000"/>
              </a:lnSpc>
              <a:spcAft>
                <a:spcPts val="489"/>
              </a:spcAft>
            </a:pPr>
            <a:r>
              <a:rPr sz="1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队长：滕恒基　成员：滕恒基、梁天宇、苗富敬、刘帅、安子茜</a:t>
            </a:r>
          </a:p>
        </p:txBody>
      </p:sp>
      <p:pic>
        <p:nvPicPr>
          <p:cNvPr id="18" name="Picture 17" descr="case_006543_f0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051560"/>
            <a:ext cx="4617720" cy="2597468"/>
          </a:xfrm>
          <a:prstGeom prst="rect">
            <a:avLst/>
          </a:prstGeom>
        </p:spPr>
      </p:pic>
      <p:pic>
        <p:nvPicPr>
          <p:cNvPr id="19" name="Picture 18" descr="case_003235_f0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767328"/>
            <a:ext cx="2240280" cy="2240280"/>
          </a:xfrm>
          <a:prstGeom prst="rect">
            <a:avLst/>
          </a:prstGeom>
        </p:spPr>
      </p:pic>
      <p:pic>
        <p:nvPicPr>
          <p:cNvPr id="20" name="Picture 19" descr="case_033447_f29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3767328"/>
            <a:ext cx="2240280" cy="2240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86600" y="6053328"/>
            <a:ext cx="4663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367"/>
              </a:spcAft>
            </a:pPr>
            <a:r>
              <a:rPr sz="10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测试集样例。红：选中的检测框　绿：预测 3D 框投影　青：v11c 射线法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9966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367"/>
              </a:spcAft>
            </a:pPr>
            <a:r>
              <a:rPr sz="1050" b="1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代码：</a:t>
            </a:r>
            <a:r>
              <a:rPr sz="10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github.com/Teng10099/VLSOT-2026-Wangyuan-Geo（Apache-2.0）</a:t>
            </a:r>
            <a:r>
              <a:rPr sz="1050" b="1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　权重：</a:t>
            </a:r>
            <a:r>
              <a:rPr sz="10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pan.baidu.com/s/1-56d3pIsJE30FOMGDlNdXw（提取码 pgu8）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2000"/>
              </a:lnSpc>
              <a:spcAft>
                <a:spcPts val="367"/>
              </a:spcAft>
            </a:pPr>
            <a:r>
              <a:rPr sz="10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979"/>
              </a:spcAft>
            </a:pPr>
            <a:r>
              <a:rPr sz="2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方法概述：文本约束的几何流水线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6858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25"/>
              </a:spcAft>
            </a:pPr>
            <a:r>
              <a:rPr sz="15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不训练三维网络：先选对目标，再用文本给出的度量信息把 2D 框解成 3D 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367"/>
              </a:spcAft>
            </a:pPr>
            <a:r>
              <a:rPr sz="10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望远队 · Tenn-VLSOT-Geo · 长安大学第二届人工智能创新大赛 赛道A（VLSOT）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2000"/>
              </a:lnSpc>
              <a:spcAft>
                <a:spcPts val="367"/>
              </a:spcAft>
            </a:pPr>
            <a:r>
              <a:rPr sz="10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2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2542032" cy="1481328"/>
          </a:xfrm>
          <a:prstGeom prst="roundRect">
            <a:avLst>
              <a:gd name="adj" fmla="val 8000"/>
            </a:avLst>
          </a:prstGeom>
          <a:solidFill>
            <a:srgbClr val="E9F1F7"/>
          </a:solidFill>
          <a:ln w="19050">
            <a:solidFill>
              <a:srgbClr val="136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6656" y="1664208"/>
            <a:ext cx="231343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42"/>
              </a:spcAft>
            </a:pPr>
            <a:r>
              <a:rPr sz="155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075688"/>
            <a:ext cx="2340863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30 帧单目图像 1920×1080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英文描述 + 颜色/状态/类别字段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相机标定（V2X-Seq-SPD）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18103" y="2313432"/>
            <a:ext cx="274321" cy="0"/>
          </a:xfrm>
          <a:prstGeom prst="line">
            <a:avLst/>
          </a:prstGeom>
          <a:ln w="25400">
            <a:solidFill>
              <a:srgbClr val="5268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19856" y="1572768"/>
            <a:ext cx="2542032" cy="1481328"/>
          </a:xfrm>
          <a:prstGeom prst="roundRect">
            <a:avLst>
              <a:gd name="adj" fmla="val 8000"/>
            </a:avLst>
          </a:prstGeom>
          <a:solidFill>
            <a:srgbClr val="E9F1F7"/>
          </a:solidFill>
          <a:ln w="19050">
            <a:solidFill>
              <a:srgbClr val="136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47872" y="1664208"/>
            <a:ext cx="231343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42"/>
              </a:spcAft>
            </a:pPr>
            <a:r>
              <a:rPr sz="155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① 文本解析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075688"/>
            <a:ext cx="2340863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尺寸 l/w/h；第 0/14/29 帧距离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航向与朝向词、九宫格区域、名次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截断、最近车及其相对方位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2313432"/>
            <a:ext cx="274320" cy="0"/>
          </a:xfrm>
          <a:prstGeom prst="line">
            <a:avLst/>
          </a:prstGeom>
          <a:ln w="25400">
            <a:solidFill>
              <a:srgbClr val="5268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91071" y="1572768"/>
            <a:ext cx="2542032" cy="1481328"/>
          </a:xfrm>
          <a:prstGeom prst="roundRect">
            <a:avLst>
              <a:gd name="adj" fmla="val 8000"/>
            </a:avLst>
          </a:prstGeom>
          <a:solidFill>
            <a:srgbClr val="E9F1F7"/>
          </a:solidFill>
          <a:ln w="19050">
            <a:solidFill>
              <a:srgbClr val="136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19087" y="1664208"/>
            <a:ext cx="231343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42"/>
              </a:spcAft>
            </a:pPr>
            <a:r>
              <a:rPr sz="155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② 二维检测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7" y="2075688"/>
            <a:ext cx="2340863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YOLO11x（COCO 预训练）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置信度 ≥0.05 的车辆框都作候选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EFN 分类器给出颜色概率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60535" y="2313432"/>
            <a:ext cx="274320" cy="0"/>
          </a:xfrm>
          <a:prstGeom prst="line">
            <a:avLst/>
          </a:prstGeom>
          <a:ln w="25400">
            <a:solidFill>
              <a:srgbClr val="5268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62287" y="1572768"/>
            <a:ext cx="2542032" cy="1481328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90303" y="1664208"/>
            <a:ext cx="231343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42"/>
              </a:spcAft>
            </a:pPr>
            <a:r>
              <a:rPr sz="15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③ 候选打分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3" y="2075688"/>
            <a:ext cx="2340863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9 个特征：距离一致、区域、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名次、颜色、类别、截断、方位…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线性排序模型（TRAIN 拟合）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57600"/>
            <a:ext cx="2542032" cy="1481328"/>
          </a:xfrm>
          <a:prstGeom prst="roundRect">
            <a:avLst>
              <a:gd name="adj" fmla="val 8000"/>
            </a:avLst>
          </a:prstGeom>
          <a:solidFill>
            <a:srgbClr val="E9F1F7"/>
          </a:solidFill>
          <a:ln w="19050">
            <a:solidFill>
              <a:srgbClr val="136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6656" y="3749039"/>
            <a:ext cx="231343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42"/>
              </a:spcAft>
            </a:pPr>
            <a:r>
              <a:rPr sz="155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④ 全局跟踪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4160520"/>
            <a:ext cx="2340863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Viterbi 动态规划选整条轨迹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相邻帧框连续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运动方向与文本航向一致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18103" y="4398264"/>
            <a:ext cx="274321" cy="0"/>
          </a:xfrm>
          <a:prstGeom prst="line">
            <a:avLst/>
          </a:prstGeom>
          <a:ln w="25400">
            <a:solidFill>
              <a:srgbClr val="5268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419856" y="3657600"/>
            <a:ext cx="2542032" cy="1481328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547872" y="3749039"/>
            <a:ext cx="231343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42"/>
              </a:spcAft>
            </a:pPr>
            <a:r>
              <a:rPr sz="15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⑤ boxfit 三维定位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4160520"/>
            <a:ext cx="2340863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文本尺寸 + 航向 + 距离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3D 框投影对齐检测框未截断边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地平面作为高度弱先验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89320" y="4398264"/>
            <a:ext cx="274320" cy="0"/>
          </a:xfrm>
          <a:prstGeom prst="line">
            <a:avLst/>
          </a:prstGeom>
          <a:ln w="25400">
            <a:solidFill>
              <a:srgbClr val="5268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91071" y="3657600"/>
            <a:ext cx="2542032" cy="1481328"/>
          </a:xfrm>
          <a:prstGeom prst="roundRect">
            <a:avLst>
              <a:gd name="adj" fmla="val 8000"/>
            </a:avLst>
          </a:prstGeom>
          <a:solidFill>
            <a:srgbClr val="E9F1F7"/>
          </a:solidFill>
          <a:ln w="19050">
            <a:solidFill>
              <a:srgbClr val="136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19087" y="3749039"/>
            <a:ext cx="231343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42"/>
              </a:spcAft>
            </a:pPr>
            <a:r>
              <a:rPr sz="155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⑥ 时序平滑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7" y="4160520"/>
            <a:ext cx="2340863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停车：30 帧取中位数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运动：保持文本距离曲线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方位角做局部线性平滑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0535" y="4398264"/>
            <a:ext cx="274320" cy="0"/>
          </a:xfrm>
          <a:prstGeom prst="line">
            <a:avLst/>
          </a:prstGeom>
          <a:ln w="25400">
            <a:solidFill>
              <a:srgbClr val="5268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62287" y="3657600"/>
            <a:ext cx="2542032" cy="1481328"/>
          </a:xfrm>
          <a:prstGeom prst="roundRect">
            <a:avLst>
              <a:gd name="adj" fmla="val 8000"/>
            </a:avLst>
          </a:prstGeom>
          <a:solidFill>
            <a:srgbClr val="E9F1F7"/>
          </a:solidFill>
          <a:ln w="19050">
            <a:solidFill>
              <a:srgbClr val="136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290303" y="3749039"/>
            <a:ext cx="231343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42"/>
              </a:spcAft>
            </a:pPr>
            <a:r>
              <a:rPr sz="155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3" y="4160520"/>
            <a:ext cx="2340863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每帧 l w h x y z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virtuallidar 坐标系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result/&lt;视频ID&gt;.txt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433303" y="3072384"/>
            <a:ext cx="0" cy="283464"/>
          </a:xfrm>
          <a:prstGeom prst="line">
            <a:avLst/>
          </a:prstGeom>
          <a:ln w="25400">
            <a:solidFill>
              <a:srgbClr val="5268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819655" y="3355848"/>
            <a:ext cx="8613648" cy="0"/>
          </a:xfrm>
          <a:prstGeom prst="line">
            <a:avLst/>
          </a:prstGeom>
          <a:ln w="25400">
            <a:solidFill>
              <a:srgbClr val="5268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819655" y="3355848"/>
            <a:ext cx="0" cy="274320"/>
          </a:xfrm>
          <a:prstGeom prst="line">
            <a:avLst/>
          </a:prstGeom>
          <a:ln w="25400">
            <a:solidFill>
              <a:srgbClr val="5268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48640" y="5376672"/>
            <a:ext cx="11091672" cy="896112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587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" y="5440680"/>
            <a:ext cx="107899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455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学到的参数很少：</a:t>
            </a:r>
            <a:r>
              <a:rPr sz="13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打分权重 9 个、地平面 3 个、框中心偏移 2 个、boxfit 边噪声 4 个，只用 TRAIN 标签拟合</a:t>
            </a:r>
          </a:p>
          <a:p>
            <a:pPr algn="l">
              <a:lnSpc>
                <a:spcPct val="112000"/>
              </a:lnSpc>
              <a:spcAft>
                <a:spcPts val="455"/>
              </a:spcAft>
            </a:pPr>
            <a:r>
              <a:rPr sz="13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与端到端网络的区别：</a:t>
            </a:r>
            <a:r>
              <a:rPr sz="13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距离、尺寸、航向直接代入几何求解，选择和定位两步的误差可以分开度量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979"/>
              </a:spcAft>
            </a:pPr>
            <a:r>
              <a:rPr sz="2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核心创新点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6858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367"/>
              </a:spcAft>
            </a:pPr>
            <a:r>
              <a:rPr sz="10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望远队 · Tenn-VLSOT-Geo · 长安大学第二届人工智能创新大赛 赛道A（VLSOT）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2000"/>
              </a:lnSpc>
              <a:spcAft>
                <a:spcPts val="367"/>
              </a:spcAft>
            </a:pPr>
            <a:r>
              <a:rPr sz="10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3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344168"/>
            <a:ext cx="5120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94"/>
              </a:spcAft>
            </a:pPr>
            <a:r>
              <a:rPr sz="1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  文本度量约束取代单目深度估计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51206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437"/>
              </a:spcAft>
            </a:pPr>
            <a:r>
              <a:rPr sz="12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· 描述给出第 0/14/29 帧距离（0.1 m 精度）与尺寸：中心落在文本距离上，深度不靠图像猜</a:t>
            </a:r>
          </a:p>
          <a:p>
            <a:pPr algn="l">
              <a:lnSpc>
                <a:spcPct val="105000"/>
              </a:lnSpc>
              <a:spcAft>
                <a:spcPts val="437"/>
              </a:spcAft>
            </a:pPr>
            <a:r>
              <a:rPr sz="12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· 运动目标保持文本距离曲线、只平滑方位角，消除滑动平均在首尾帧约 0.45 m 的偏差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51206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472"/>
              </a:spcAft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结果：</a:t>
            </a: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平台 ACE 2.53 m → 0.226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E9F1F7"/>
          </a:solidFill>
          <a:ln w="19050">
            <a:solidFill>
              <a:srgbClr val="136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344168"/>
            <a:ext cx="5120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94"/>
              </a:spcAft>
            </a:pPr>
            <a:r>
              <a:rPr sz="17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2  复刻数据生成规则的跨模态匹配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01368"/>
            <a:ext cx="51206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437"/>
              </a:spcAft>
            </a:pPr>
            <a:r>
              <a:rPr sz="12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· 按数据集描述生成脚本计算九宫格区域、同格名次（格角到框底边中点距离）、最近车方位（3.7 m 阈值）</a:t>
            </a:r>
          </a:p>
          <a:p>
            <a:pPr algn="l">
              <a:lnSpc>
                <a:spcPct val="105000"/>
              </a:lnSpc>
              <a:spcAft>
                <a:spcPts val="437"/>
              </a:spcAft>
            </a:pPr>
            <a:r>
              <a:rPr sz="12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· 颜色用作者打标签时的同款 EFN 分类器；9 个特征 + 线性排序 + Viterbi 全局轨迹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63240"/>
            <a:ext cx="51206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472"/>
              </a:spcAft>
            </a:pPr>
            <a:r>
              <a:rPr sz="135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结果：</a:t>
            </a: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交叉验证 SR@0.5 77.78 → 81.70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76472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5120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94"/>
              </a:spcAft>
            </a:pPr>
            <a:r>
              <a:rPr sz="1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3  截断感知的 3D 框投影拟合（boxfit）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51206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437"/>
              </a:spcAft>
            </a:pPr>
            <a:r>
              <a:rPr sz="12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· 已知文本尺寸与航向，求中心使 3D 框投影外接矩形对齐检测框；离图像边界 10 px 内的边不参与</a:t>
            </a:r>
          </a:p>
          <a:p>
            <a:pPr algn="l">
              <a:lnSpc>
                <a:spcPct val="105000"/>
              </a:lnSpc>
              <a:spcAft>
                <a:spcPts val="437"/>
              </a:spcAft>
            </a:pPr>
            <a:r>
              <a:rPr sz="12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· 近处截断目标的 2D 框中心不是 3D 中心的投影，沿框中心射线取文本距离会把中心放偏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05272"/>
            <a:ext cx="51206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472"/>
              </a:spcAft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结果：</a:t>
            </a: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近处截断片段 SR@0.5 9.6% → 61.8%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76472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E9F1F7"/>
          </a:solidFill>
          <a:ln w="19050">
            <a:solidFill>
              <a:srgbClr val="136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0" y="3886200"/>
            <a:ext cx="5120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94"/>
              </a:spcAft>
            </a:pPr>
            <a:r>
              <a:rPr sz="17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4  评测口径反推与同口径验证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43400"/>
            <a:ext cx="51206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5000"/>
              </a:lnSpc>
              <a:spcAft>
                <a:spcPts val="437"/>
              </a:spcAft>
            </a:pPr>
            <a:r>
              <a:rPr sz="12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· v9→v11c 只改 1 段，ACE 降 0.369，超过“角点”口径上限 0.27 → 平台用真实 3D IoU；PR 阈值为 0.1/0.05 m</a:t>
            </a:r>
          </a:p>
          <a:p>
            <a:pPr algn="l">
              <a:lnSpc>
                <a:spcPct val="105000"/>
              </a:lnSpc>
              <a:spcAft>
                <a:spcPts val="437"/>
              </a:spcAft>
            </a:pPr>
            <a:r>
              <a:rPr sz="12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· 按目标分组 5 折交叉验证；修正训练 GT 与检测框的匹配（原方法 13% 的帧配到邻车）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605272"/>
            <a:ext cx="51206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472"/>
              </a:spcAft>
            </a:pPr>
            <a:r>
              <a:rPr sz="135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结果：</a:t>
            </a: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v11c → v12f：CV +6.71，平台 SR@0.5 +9.67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979"/>
              </a:spcAft>
            </a:pPr>
            <a:r>
              <a:rPr sz="2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实验结果与消融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6858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25"/>
              </a:spcAft>
            </a:pPr>
            <a:r>
              <a:rPr sz="15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左：5 折交叉验证（227 段 TRAIN，按目标分组，真实 3D IoU）；右：平台测试集 5 次提交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367"/>
              </a:spcAft>
            </a:pPr>
            <a:r>
              <a:rPr sz="10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望远队 · Tenn-VLSOT-Geo · 长安大学第二届人工智能创新大赛 赛道A（VLSOT）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2000"/>
              </a:lnSpc>
              <a:spcAft>
                <a:spcPts val="367"/>
              </a:spcAft>
            </a:pPr>
            <a:r>
              <a:rPr sz="10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4 /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81328"/>
          <a:ext cx="6812280" cy="4160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749808"/>
                <a:gridCol w="749808"/>
                <a:gridCol w="749808"/>
                <a:gridCol w="749808"/>
                <a:gridCol w="749808"/>
              </a:tblGrid>
              <a:tr h="4160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54864" marR="54864" marT="18288" marB="18288" anchor="ctr"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SR@0.5</a:t>
                      </a:r>
                    </a:p>
                  </a:txBody>
                  <a:tcPr marL="54864" marR="54864" marT="18288" marB="18288" anchor="ctr"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SR@0.7</a:t>
                      </a:r>
                    </a:p>
                  </a:txBody>
                  <a:tcPr marL="54864" marR="54864" marT="18288" marB="18288" anchor="ctr"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AOR</a:t>
                      </a:r>
                    </a:p>
                  </a:txBody>
                  <a:tcPr marL="54864" marR="54864" marT="18288" marB="18288" anchor="ctr"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ACE/m</a:t>
                      </a:r>
                    </a:p>
                  </a:txBody>
                  <a:tcPr marL="54864" marR="54864" marT="18288" marB="18288" anchor="ctr"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误差&lt;0.1m</a:t>
                      </a:r>
                    </a:p>
                  </a:txBody>
                  <a:tcPr marL="54864" marR="54864" marT="18288" marB="18288" anchor="ctr">
                    <a:solidFill>
                      <a:srgbClr val="E9F1F7"/>
                    </a:solidFill>
                  </a:tcPr>
                </a:tc>
              </a:tr>
              <a:tr h="4160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v9 基线：YOLO11x + CLIP 颜色 + 射线定位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60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复刻生成规则的名次/最近车方位、距离死区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60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EFN 颜色、名次框距上限（v11c）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81.70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60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训练 GT↔检测框按投影矩形匹配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81.69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60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运动目标方位角局部线性平滑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82.07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60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boxfit（仅截断框，边距 4 px）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83.19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65.81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60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boxfit（仅截断框，边距 10 px）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87.46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605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boxfit（全部帧）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87.78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605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 二次距离插值、高度先验放宽（v12f）</a:t>
                      </a:r>
                    </a:p>
                  </a:txBody>
                  <a:tcPr marL="54864" marR="54864" marT="18288" marB="18288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88.41</a:t>
                      </a:r>
                    </a:p>
                  </a:txBody>
                  <a:tcPr marL="54864" marR="54864" marT="18288" marB="18288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69.16</a:t>
                      </a:r>
                    </a:p>
                  </a:txBody>
                  <a:tcPr marL="54864" marR="54864" marT="18288" marB="18288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70.57</a:t>
                      </a:r>
                    </a:p>
                  </a:txBody>
                  <a:tcPr marL="54864" marR="54864" marT="18288" marB="18288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0.498</a:t>
                      </a:r>
                    </a:p>
                  </a:txBody>
                  <a:tcPr marL="54864" marR="54864" marT="18288" marB="18288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38.63</a:t>
                      </a:r>
                    </a:p>
                  </a:txBody>
                  <a:tcPr marL="54864" marR="54864" marT="18288" marB="18288" anchor="ctr">
                    <a:solidFill>
                      <a:srgbClr val="E6F4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89520" y="1417320"/>
          <a:ext cx="41148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4754880"/>
            <a:ext cx="41148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平台 ACE（m）：</a:t>
            </a: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2.53 → 2.84 → 0.77 → 0.40 → 0.23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v11c → v12f：</a:t>
            </a: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SR@0.5 +9.7　SR@0.7 +11.7　AOR +8.4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PR@1.0 10.33 → 16.67　PR@0.5 3.00 → 1.67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715000"/>
            <a:ext cx="11091672" cy="6400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E4C9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5760720"/>
            <a:ext cx="1088136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1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rPr>
              <a:t>试过但未采用（CV SR@0.5，相对 v12f）：</a:t>
            </a: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按机位校正系统偏差 −4.07；匀速轨迹拟合 −2.6；射线与 boxfit 加权混合 −0.04 ~ −0.26；尺寸缩放 ≤ +0.2 但 SR@0.7 下降；残差回归 +0.56 但 PR@1.0 −0.7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979"/>
              </a:spcAft>
            </a:pPr>
            <a:r>
              <a:rPr sz="2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测试样例与误差分析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6858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525"/>
              </a:spcAft>
            </a:pPr>
            <a:r>
              <a:rPr sz="15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红：选中的检测框　绿：v12f 预测 3D 框投影　青：v11c 射线法（同一选择，只换三维定位）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2000"/>
              </a:lnSpc>
              <a:spcAft>
                <a:spcPts val="367"/>
              </a:spcAft>
            </a:pPr>
            <a:r>
              <a:rPr sz="10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望远队 · Tenn-VLSOT-Geo · 长安大学第二届人工智能创新大赛 赛道A（VLSOT）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2000"/>
              </a:lnSpc>
              <a:spcAft>
                <a:spcPts val="367"/>
              </a:spcAft>
            </a:pPr>
            <a:r>
              <a:rPr sz="10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  <p:pic>
        <p:nvPicPr>
          <p:cNvPr id="7" name="Picture 6" descr="case_003235_f0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26517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114800"/>
            <a:ext cx="269748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003235 截断货车：绿框贴合可见的上边和右边</a:t>
            </a:r>
          </a:p>
        </p:txBody>
      </p:sp>
      <p:pic>
        <p:nvPicPr>
          <p:cNvPr id="9" name="Picture 8" descr="case_001483_f0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417320"/>
            <a:ext cx="265176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64992" y="4114800"/>
            <a:ext cx="269748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001483 左下角截断：射线法框中心偏上偏右</a:t>
            </a:r>
          </a:p>
        </p:txBody>
      </p:sp>
      <p:pic>
        <p:nvPicPr>
          <p:cNvPr id="11" name="Picture 10" descr="case_006543_f0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417320"/>
            <a:ext cx="2651760" cy="2651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81344" y="4114800"/>
            <a:ext cx="269748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006543 h=0.6 的扁框：高度误差直接决定 IoU</a:t>
            </a:r>
          </a:p>
        </p:txBody>
      </p:sp>
      <p:pic>
        <p:nvPicPr>
          <p:cNvPr id="13" name="Picture 12" descr="case_033447_f29_z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96" y="1417320"/>
            <a:ext cx="2651760" cy="2651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97696" y="4114800"/>
            <a:ext cx="269748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033447 横穿运动：末帧不再被平滑拖回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E9F1F7"/>
          </a:solidFill>
          <a:ln w="1587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4818888"/>
            <a:ext cx="521208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89"/>
              </a:spcAft>
            </a:pPr>
            <a:r>
              <a:rPr sz="14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误差上限（只用 TRAIN 标签统计）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· 停车目标标注逐帧抖动均值 9 cm：中心误差 &lt;10 cm 的帧最多约 71%，&lt;5 cm 最多约 40%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· 标注尺寸逐帧变化：中心完全正确时 SR@0.7 上限约 95%（停）/ 81%（动）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· 运动目标中间帧距离只能插值：一半帧径向误差 &gt;0.1 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475488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587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18504" y="4818888"/>
            <a:ext cx="521208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489"/>
              </a:spcAft>
            </a:pPr>
            <a:r>
              <a:rPr sz="1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局限与下一步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· 测试集难例集中：两个左下角截断的近处目标（约 15 m）、两个约 100 m 远的运动目标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· CV 88.4 与平台 61.7 的差距推测主要来自这些难例（近处截断片段在 TRAIN 中只有 19 / 227 段）；平台不给逐段成绩，无法逐段核实</a:t>
            </a:r>
          </a:p>
          <a:p>
            <a:pPr algn="l">
              <a:lnSpc>
                <a:spcPct val="100000"/>
              </a:lnSpc>
              <a:spcAft>
                <a:spcPts val="402"/>
              </a:spcAft>
            </a:pPr>
            <a:r>
              <a:rPr sz="11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· 计划：检测框测试时增强精修框边、远处目标亚像素定位、整段轨迹联合优化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